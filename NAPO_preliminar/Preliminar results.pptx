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7" r:id="rId2"/>
    <p:sldId id="261" r:id="rId3"/>
    <p:sldId id="262" r:id="rId4"/>
    <p:sldId id="278" r:id="rId5"/>
    <p:sldId id="264" r:id="rId6"/>
    <p:sldId id="276" r:id="rId7"/>
    <p:sldId id="265" r:id="rId8"/>
    <p:sldId id="256" r:id="rId9"/>
    <p:sldId id="275" r:id="rId10"/>
    <p:sldId id="266" r:id="rId11"/>
    <p:sldId id="267" r:id="rId12"/>
    <p:sldId id="269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884" autoAdjust="0"/>
  </p:normalViewPr>
  <p:slideViewPr>
    <p:cSldViewPr snapToGrid="0" showGuides="1">
      <p:cViewPr>
        <p:scale>
          <a:sx n="100" d="100"/>
          <a:sy n="100" d="100"/>
        </p:scale>
        <p:origin x="852" y="7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F7F13-AF47-4725-8AB6-57E94D27C1A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E449D-04CE-41BA-9D62-41FCC50669E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47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 smtClean="0"/>
              <a:t>Analisis</a:t>
            </a:r>
            <a:r>
              <a:rPr lang="es-MX" dirty="0" smtClean="0"/>
              <a:t> para primer articulo </a:t>
            </a:r>
            <a:r>
              <a:rPr lang="es-MX" dirty="0" err="1" smtClean="0"/>
              <a:t>tambien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E449D-04CE-41BA-9D62-41FCC50669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40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 smtClean="0"/>
              <a:t>Check</a:t>
            </a:r>
            <a:r>
              <a:rPr lang="es-MX" dirty="0" smtClean="0"/>
              <a:t> </a:t>
            </a:r>
            <a:r>
              <a:rPr lang="es-MX" dirty="0" err="1" smtClean="0"/>
              <a:t>how</a:t>
            </a:r>
            <a:r>
              <a:rPr lang="es-MX" baseline="0" dirty="0" smtClean="0"/>
              <a:t> to </a:t>
            </a:r>
            <a:r>
              <a:rPr lang="es-MX" baseline="0" dirty="0" err="1" smtClean="0"/>
              <a:t>improve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this</a:t>
            </a:r>
            <a:r>
              <a:rPr lang="es-MX" baseline="0" dirty="0" smtClean="0"/>
              <a:t> </a:t>
            </a:r>
            <a:r>
              <a:rPr lang="es-MX" baseline="0" dirty="0" err="1" smtClean="0"/>
              <a:t>graphic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E449D-04CE-41BA-9D62-41FCC50669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47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2D0A-49B8-44AA-BB3D-CF254F4C3EA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6DD4-0357-4BA2-A7A5-E7F4BAE606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43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2D0A-49B8-44AA-BB3D-CF254F4C3EA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6DD4-0357-4BA2-A7A5-E7F4BAE606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8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2D0A-49B8-44AA-BB3D-CF254F4C3EA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6DD4-0357-4BA2-A7A5-E7F4BAE606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8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2D0A-49B8-44AA-BB3D-CF254F4C3EA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6DD4-0357-4BA2-A7A5-E7F4BAE606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4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2D0A-49B8-44AA-BB3D-CF254F4C3EA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6DD4-0357-4BA2-A7A5-E7F4BAE606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2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2D0A-49B8-44AA-BB3D-CF254F4C3EA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6DD4-0357-4BA2-A7A5-E7F4BAE606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66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2D0A-49B8-44AA-BB3D-CF254F4C3EA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6DD4-0357-4BA2-A7A5-E7F4BAE606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2D0A-49B8-44AA-BB3D-CF254F4C3EA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6DD4-0357-4BA2-A7A5-E7F4BAE606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39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2D0A-49B8-44AA-BB3D-CF254F4C3EA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6DD4-0357-4BA2-A7A5-E7F4BAE606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45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2D0A-49B8-44AA-BB3D-CF254F4C3EA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6DD4-0357-4BA2-A7A5-E7F4BAE606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5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2D0A-49B8-44AA-BB3D-CF254F4C3EA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C6DD4-0357-4BA2-A7A5-E7F4BAE606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42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02D0A-49B8-44AA-BB3D-CF254F4C3EAD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C6DD4-0357-4BA2-A7A5-E7F4BAE6062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CHAPTER 2: Andrea</a:t>
            </a:r>
            <a:endParaRPr lang="en-U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 smtClean="0"/>
              <a:t>Tentative</a:t>
            </a:r>
            <a:r>
              <a:rPr lang="es-MX" dirty="0" smtClean="0"/>
              <a:t> </a:t>
            </a:r>
            <a:r>
              <a:rPr lang="es-MX" dirty="0" err="1" smtClean="0"/>
              <a:t>title</a:t>
            </a:r>
            <a:r>
              <a:rPr lang="es-MX" dirty="0" smtClean="0"/>
              <a:t>: </a:t>
            </a:r>
            <a:r>
              <a:rPr lang="en-US" dirty="0" smtClean="0"/>
              <a:t>Temporal </a:t>
            </a:r>
            <a:r>
              <a:rPr lang="en-US" dirty="0"/>
              <a:t>and </a:t>
            </a:r>
            <a:r>
              <a:rPr lang="en-US" dirty="0" err="1"/>
              <a:t>elevational</a:t>
            </a:r>
            <a:r>
              <a:rPr lang="en-US" dirty="0"/>
              <a:t> variation in intrinsic water-use efficiency (</a:t>
            </a:r>
            <a:r>
              <a:rPr lang="en-US" dirty="0" err="1"/>
              <a:t>iWUE</a:t>
            </a:r>
            <a:r>
              <a:rPr lang="en-US" dirty="0"/>
              <a:t>) in Ecuadorian Andean forests</a:t>
            </a:r>
            <a:endParaRPr lang="es-MX" dirty="0"/>
          </a:p>
          <a:p>
            <a:r>
              <a:rPr lang="es-MX" dirty="0" err="1" smtClean="0"/>
              <a:t>Part</a:t>
            </a:r>
            <a:r>
              <a:rPr lang="es-MX" dirty="0" smtClean="0"/>
              <a:t> A: </a:t>
            </a:r>
            <a:r>
              <a:rPr lang="es-MX" dirty="0" err="1" smtClean="0"/>
              <a:t>Herbarium</a:t>
            </a:r>
            <a:r>
              <a:rPr lang="es-MX" dirty="0" smtClean="0"/>
              <a:t> </a:t>
            </a:r>
            <a:r>
              <a:rPr lang="es-MX" dirty="0" err="1" smtClean="0"/>
              <a:t>Analysis</a:t>
            </a:r>
            <a:endParaRPr lang="es-MX" dirty="0" smtClean="0"/>
          </a:p>
          <a:p>
            <a:r>
              <a:rPr lang="es-MX" dirty="0" err="1" smtClean="0"/>
              <a:t>Part</a:t>
            </a:r>
            <a:r>
              <a:rPr lang="es-MX" dirty="0" smtClean="0"/>
              <a:t> B: </a:t>
            </a:r>
            <a:r>
              <a:rPr lang="es-MX" dirty="0" err="1" smtClean="0"/>
              <a:t>Rescued</a:t>
            </a:r>
            <a:r>
              <a:rPr lang="es-MX" dirty="0" smtClean="0"/>
              <a:t> </a:t>
            </a:r>
            <a:r>
              <a:rPr lang="es-MX" dirty="0" err="1" smtClean="0"/>
              <a:t>Plots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208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 smtClean="0"/>
              <a:t>Chapter</a:t>
            </a:r>
            <a:r>
              <a:rPr lang="es-MX" b="1" dirty="0" smtClean="0"/>
              <a:t> 2b</a:t>
            </a:r>
            <a:endParaRPr lang="en-U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2776" y="1480850"/>
            <a:ext cx="5433309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dirty="0" smtClean="0"/>
              <a:t>RQ:</a:t>
            </a:r>
          </a:p>
          <a:p>
            <a:r>
              <a:rPr lang="es-MX" sz="1800" dirty="0" err="1" smtClean="0"/>
              <a:t>How</a:t>
            </a:r>
            <a:r>
              <a:rPr lang="es-MX" sz="1800" dirty="0" smtClean="0"/>
              <a:t> </a:t>
            </a:r>
            <a:r>
              <a:rPr lang="es-MX" sz="1800" dirty="0" err="1" smtClean="0"/>
              <a:t>does</a:t>
            </a:r>
            <a:r>
              <a:rPr lang="es-MX" sz="1800" dirty="0" smtClean="0"/>
              <a:t> </a:t>
            </a:r>
            <a:r>
              <a:rPr lang="es-MX" sz="1800" dirty="0" err="1" smtClean="0"/>
              <a:t>iWUE</a:t>
            </a:r>
            <a:r>
              <a:rPr lang="es-MX" sz="1800" dirty="0" smtClean="0"/>
              <a:t> </a:t>
            </a:r>
            <a:r>
              <a:rPr lang="es-MX" sz="1800" dirty="0" err="1" smtClean="0"/>
              <a:t>change</a:t>
            </a:r>
            <a:r>
              <a:rPr lang="es-MX" sz="1800" dirty="0" smtClean="0"/>
              <a:t> </a:t>
            </a:r>
            <a:r>
              <a:rPr lang="es-MX" sz="1800" dirty="0" err="1" smtClean="0"/>
              <a:t>between</a:t>
            </a:r>
            <a:r>
              <a:rPr lang="es-MX" sz="1800" dirty="0"/>
              <a:t> </a:t>
            </a:r>
            <a:r>
              <a:rPr lang="es-MX" sz="1800" dirty="0" smtClean="0"/>
              <a:t>20 </a:t>
            </a:r>
            <a:r>
              <a:rPr lang="es-MX" sz="1800" dirty="0" err="1" smtClean="0"/>
              <a:t>years</a:t>
            </a:r>
            <a:r>
              <a:rPr lang="es-MX" sz="1800" dirty="0" smtClean="0"/>
              <a:t> </a:t>
            </a:r>
            <a:r>
              <a:rPr lang="es-MX" sz="1800" dirty="0" err="1" smtClean="0"/>
              <a:t>same</a:t>
            </a:r>
            <a:r>
              <a:rPr lang="es-MX" sz="1800" dirty="0" smtClean="0"/>
              <a:t> individual (</a:t>
            </a:r>
            <a:r>
              <a:rPr lang="es-MX" sz="1800" dirty="0" err="1" smtClean="0"/>
              <a:t>paired</a:t>
            </a:r>
            <a:r>
              <a:rPr lang="es-MX" sz="1800" dirty="0" smtClean="0"/>
              <a:t> simple t-test) and </a:t>
            </a:r>
            <a:r>
              <a:rPr lang="es-MX" sz="1800" dirty="0" err="1" smtClean="0"/>
              <a:t>between</a:t>
            </a:r>
            <a:r>
              <a:rPr lang="es-MX" sz="1800" dirty="0" smtClean="0"/>
              <a:t> </a:t>
            </a:r>
            <a:r>
              <a:rPr lang="es-MX" sz="1800" dirty="0" err="1" smtClean="0"/>
              <a:t>community</a:t>
            </a:r>
            <a:r>
              <a:rPr lang="es-MX" sz="1800" dirty="0" smtClean="0"/>
              <a:t> at </a:t>
            </a:r>
            <a:r>
              <a:rPr lang="es-MX" sz="1800" dirty="0" err="1" smtClean="0"/>
              <a:t>different</a:t>
            </a:r>
            <a:r>
              <a:rPr lang="es-MX" sz="1800" dirty="0" smtClean="0"/>
              <a:t> </a:t>
            </a:r>
            <a:r>
              <a:rPr lang="es-MX" sz="1800" dirty="0" err="1" smtClean="0"/>
              <a:t>elevations</a:t>
            </a:r>
            <a:r>
              <a:rPr lang="es-MX" sz="1800" dirty="0" smtClean="0"/>
              <a:t>?</a:t>
            </a:r>
          </a:p>
          <a:p>
            <a:endParaRPr lang="es-MX" sz="1800" dirty="0" smtClean="0"/>
          </a:p>
          <a:p>
            <a:r>
              <a:rPr lang="es-MX" sz="1800" dirty="0" err="1" smtClean="0"/>
              <a:t>How</a:t>
            </a:r>
            <a:r>
              <a:rPr lang="es-MX" sz="1800" dirty="0" smtClean="0"/>
              <a:t> </a:t>
            </a:r>
            <a:r>
              <a:rPr lang="es-MX" sz="1800" dirty="0" err="1" smtClean="0"/>
              <a:t>does</a:t>
            </a:r>
            <a:r>
              <a:rPr lang="es-MX" sz="1800" dirty="0" smtClean="0"/>
              <a:t> </a:t>
            </a:r>
            <a:r>
              <a:rPr lang="es-MX" sz="1800" dirty="0" err="1" smtClean="0"/>
              <a:t>iWUE</a:t>
            </a:r>
            <a:r>
              <a:rPr lang="es-MX" sz="1800" dirty="0" smtClean="0"/>
              <a:t> relates to </a:t>
            </a:r>
            <a:r>
              <a:rPr lang="es-MX" sz="1800" dirty="0" err="1" smtClean="0"/>
              <a:t>relative</a:t>
            </a:r>
            <a:r>
              <a:rPr lang="es-MX" sz="1800" dirty="0" smtClean="0"/>
              <a:t> </a:t>
            </a:r>
            <a:r>
              <a:rPr lang="es-MX" sz="1800" dirty="0" err="1" smtClean="0"/>
              <a:t>growth</a:t>
            </a:r>
            <a:r>
              <a:rPr lang="es-MX" sz="1800" dirty="0" smtClean="0"/>
              <a:t>?. (</a:t>
            </a:r>
            <a:r>
              <a:rPr lang="es-MX" sz="1800" dirty="0" err="1" smtClean="0"/>
              <a:t>Quang</a:t>
            </a:r>
            <a:r>
              <a:rPr lang="es-MX" sz="1800" dirty="0" smtClean="0"/>
              <a:t> 2025 – </a:t>
            </a:r>
            <a:r>
              <a:rPr lang="es-MX" sz="1800" dirty="0" err="1" smtClean="0"/>
              <a:t>iWUE</a:t>
            </a:r>
            <a:r>
              <a:rPr lang="es-MX" sz="1800" dirty="0" smtClean="0"/>
              <a:t> </a:t>
            </a:r>
            <a:r>
              <a:rPr lang="es-MX" sz="1800" dirty="0" err="1" smtClean="0"/>
              <a:t>does</a:t>
            </a:r>
            <a:r>
              <a:rPr lang="es-MX" sz="1800" dirty="0" smtClean="0"/>
              <a:t> </a:t>
            </a:r>
            <a:r>
              <a:rPr lang="es-MX" sz="1800" dirty="0" err="1" smtClean="0"/>
              <a:t>not</a:t>
            </a:r>
            <a:r>
              <a:rPr lang="es-MX" sz="1800" dirty="0" smtClean="0"/>
              <a:t> </a:t>
            </a:r>
            <a:r>
              <a:rPr lang="es-MX" sz="1800" dirty="0" err="1" smtClean="0"/>
              <a:t>stimulate</a:t>
            </a:r>
            <a:r>
              <a:rPr lang="es-MX" sz="1800" dirty="0" smtClean="0"/>
              <a:t> </a:t>
            </a:r>
            <a:r>
              <a:rPr lang="es-MX" sz="1800" dirty="0" err="1" smtClean="0"/>
              <a:t>tree</a:t>
            </a:r>
            <a:r>
              <a:rPr lang="es-MX" sz="1800" dirty="0" smtClean="0"/>
              <a:t> </a:t>
            </a:r>
            <a:r>
              <a:rPr lang="es-MX" sz="1800" dirty="0" err="1" smtClean="0"/>
              <a:t>productivity</a:t>
            </a:r>
            <a:r>
              <a:rPr lang="es-MX" sz="1800" dirty="0" smtClean="0"/>
              <a:t>).</a:t>
            </a:r>
          </a:p>
          <a:p>
            <a:pPr marL="0" indent="0">
              <a:buNone/>
            </a:pPr>
            <a:endParaRPr lang="es-MX" dirty="0" smtClean="0"/>
          </a:p>
          <a:p>
            <a:r>
              <a:rPr lang="en-US" b="1" dirty="0"/>
              <a:t>H1.</a:t>
            </a:r>
            <a:r>
              <a:rPr lang="en-US" dirty="0"/>
              <a:t> Intrinsic water-use efficiency (</a:t>
            </a:r>
            <a:r>
              <a:rPr lang="en-US" dirty="0" err="1"/>
              <a:t>iWUE</a:t>
            </a:r>
            <a:r>
              <a:rPr lang="en-US" dirty="0"/>
              <a:t>) increases over time in response to rising atmospheric CO₂.</a:t>
            </a:r>
          </a:p>
          <a:p>
            <a:r>
              <a:rPr lang="en-US" b="1" dirty="0"/>
              <a:t>H2.</a:t>
            </a:r>
            <a:r>
              <a:rPr lang="en-US" dirty="0"/>
              <a:t> </a:t>
            </a:r>
            <a:r>
              <a:rPr lang="en-US" dirty="0" smtClean="0"/>
              <a:t>Despite </a:t>
            </a:r>
            <a:r>
              <a:rPr lang="en-US" dirty="0"/>
              <a:t>increases in </a:t>
            </a:r>
            <a:r>
              <a:rPr lang="en-US" dirty="0" err="1"/>
              <a:t>iWUE</a:t>
            </a:r>
            <a:r>
              <a:rPr lang="en-US" dirty="0"/>
              <a:t>, tree growth may not increase accordingly, suggesting a decoupling between carbon gain and growth (e.g., </a:t>
            </a:r>
            <a:r>
              <a:rPr lang="en-US" dirty="0" err="1"/>
              <a:t>Laffitte</a:t>
            </a:r>
            <a:r>
              <a:rPr lang="en-US" dirty="0"/>
              <a:t> et al.).</a:t>
            </a:r>
          </a:p>
          <a:p>
            <a:pPr marL="0" indent="0">
              <a:buNone/>
            </a:pPr>
            <a:endParaRPr lang="es-MX" dirty="0" smtClean="0"/>
          </a:p>
        </p:txBody>
      </p:sp>
      <p:pic>
        <p:nvPicPr>
          <p:cNvPr id="4" name="Picture 2" descr="WORK IN PROGRESS - Business Cat Meme Gene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450" y="1850114"/>
            <a:ext cx="3982074" cy="398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047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 smtClean="0"/>
              <a:t>From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same</a:t>
            </a:r>
            <a:r>
              <a:rPr lang="es-MX" dirty="0" smtClean="0"/>
              <a:t> </a:t>
            </a:r>
            <a:r>
              <a:rPr lang="es-MX" dirty="0" err="1" smtClean="0"/>
              <a:t>dataset</a:t>
            </a:r>
            <a:r>
              <a:rPr lang="es-MX" dirty="0" smtClean="0"/>
              <a:t>:</a:t>
            </a:r>
          </a:p>
          <a:p>
            <a:pPr>
              <a:buFontTx/>
              <a:buChar char="-"/>
            </a:pPr>
            <a:r>
              <a:rPr lang="es-MX" dirty="0" err="1" smtClean="0"/>
              <a:t>Leaf</a:t>
            </a:r>
            <a:r>
              <a:rPr lang="es-MX" dirty="0" smtClean="0"/>
              <a:t> </a:t>
            </a:r>
            <a:r>
              <a:rPr lang="es-MX" dirty="0" err="1" smtClean="0"/>
              <a:t>traits</a:t>
            </a:r>
            <a:r>
              <a:rPr lang="es-MX" dirty="0" smtClean="0"/>
              <a:t> (SLA, </a:t>
            </a:r>
            <a:r>
              <a:rPr lang="es-MX" dirty="0" err="1" smtClean="0"/>
              <a:t>thickness,LNC,LCC</a:t>
            </a:r>
            <a:r>
              <a:rPr lang="es-MX" dirty="0" smtClean="0"/>
              <a:t>) – </a:t>
            </a:r>
            <a:r>
              <a:rPr lang="es-MX" dirty="0" err="1" smtClean="0"/>
              <a:t>will</a:t>
            </a:r>
            <a:r>
              <a:rPr lang="es-MX" dirty="0" smtClean="0"/>
              <a:t> </a:t>
            </a:r>
            <a:r>
              <a:rPr lang="es-MX" dirty="0" err="1" smtClean="0"/>
              <a:t>send</a:t>
            </a:r>
            <a:r>
              <a:rPr lang="es-MX" dirty="0" smtClean="0"/>
              <a:t> </a:t>
            </a:r>
            <a:r>
              <a:rPr lang="es-MX" dirty="0" err="1" smtClean="0"/>
              <a:t>samples</a:t>
            </a:r>
            <a:r>
              <a:rPr lang="es-MX" dirty="0" smtClean="0"/>
              <a:t> </a:t>
            </a:r>
            <a:r>
              <a:rPr lang="es-MX" dirty="0" err="1" smtClean="0"/>
              <a:t>for</a:t>
            </a:r>
            <a:r>
              <a:rPr lang="es-MX" dirty="0" smtClean="0"/>
              <a:t> </a:t>
            </a:r>
            <a:r>
              <a:rPr lang="es-MX" dirty="0" err="1" smtClean="0"/>
              <a:t>nutrient</a:t>
            </a:r>
            <a:r>
              <a:rPr lang="es-MX" dirty="0" smtClean="0"/>
              <a:t> </a:t>
            </a:r>
            <a:r>
              <a:rPr lang="es-MX" dirty="0" err="1" smtClean="0"/>
              <a:t>analysis</a:t>
            </a:r>
            <a:r>
              <a:rPr lang="es-MX" dirty="0" smtClean="0"/>
              <a:t>.  So </a:t>
            </a:r>
            <a:r>
              <a:rPr lang="es-MX" dirty="0" err="1" smtClean="0"/>
              <a:t>also</a:t>
            </a:r>
            <a:r>
              <a:rPr lang="es-MX" dirty="0" smtClean="0"/>
              <a:t> </a:t>
            </a:r>
            <a:r>
              <a:rPr lang="es-MX" dirty="0" err="1" smtClean="0"/>
              <a:t>traits</a:t>
            </a:r>
            <a:r>
              <a:rPr lang="es-MX" dirty="0" smtClean="0"/>
              <a:t> </a:t>
            </a:r>
            <a:r>
              <a:rPr lang="es-MX" dirty="0" err="1" smtClean="0"/>
              <a:t>with</a:t>
            </a:r>
            <a:r>
              <a:rPr lang="es-MX" dirty="0" smtClean="0"/>
              <a:t> a 20 </a:t>
            </a:r>
            <a:r>
              <a:rPr lang="es-MX" dirty="0" err="1" smtClean="0"/>
              <a:t>year</a:t>
            </a:r>
            <a:r>
              <a:rPr lang="es-MX" dirty="0" smtClean="0"/>
              <a:t> gap.</a:t>
            </a:r>
          </a:p>
          <a:p>
            <a:pPr>
              <a:buFontTx/>
              <a:buChar char="-"/>
            </a:pPr>
            <a:r>
              <a:rPr lang="es-MX" dirty="0" smtClean="0"/>
              <a:t>Dynamics</a:t>
            </a:r>
            <a:r>
              <a:rPr lang="es-MX" dirty="0"/>
              <a:t> </a:t>
            </a:r>
            <a:r>
              <a:rPr lang="es-MX" dirty="0" smtClean="0"/>
              <a:t>(</a:t>
            </a:r>
            <a:r>
              <a:rPr lang="es-MX" dirty="0" err="1" smtClean="0"/>
              <a:t>growth</a:t>
            </a:r>
            <a:r>
              <a:rPr lang="es-MX" dirty="0" smtClean="0"/>
              <a:t>) -&gt; </a:t>
            </a:r>
            <a:r>
              <a:rPr lang="es-MX" dirty="0" err="1" smtClean="0"/>
              <a:t>Info</a:t>
            </a:r>
            <a:r>
              <a:rPr lang="es-MX" dirty="0" smtClean="0"/>
              <a:t> </a:t>
            </a:r>
            <a:r>
              <a:rPr lang="es-MX" dirty="0" err="1" smtClean="0"/>
              <a:t>will</a:t>
            </a:r>
            <a:r>
              <a:rPr lang="es-MX" dirty="0" smtClean="0"/>
              <a:t> be </a:t>
            </a:r>
            <a:r>
              <a:rPr lang="es-MX" dirty="0" err="1" smtClean="0"/>
              <a:t>added</a:t>
            </a:r>
            <a:r>
              <a:rPr lang="es-MX" dirty="0" smtClean="0"/>
              <a:t> </a:t>
            </a:r>
            <a:r>
              <a:rPr lang="es-MX" dirty="0" err="1" smtClean="0"/>
              <a:t>for</a:t>
            </a:r>
            <a:r>
              <a:rPr lang="es-MX" dirty="0" smtClean="0"/>
              <a:t> chapter3 .</a:t>
            </a:r>
          </a:p>
          <a:p>
            <a:pPr>
              <a:buFontTx/>
              <a:buChar char="-"/>
            </a:pPr>
            <a:endParaRPr lang="es-MX" dirty="0"/>
          </a:p>
          <a:p>
            <a:pPr>
              <a:buFontTx/>
              <a:buChar char="-"/>
            </a:pPr>
            <a:endParaRPr lang="es-MX" dirty="0" smtClean="0"/>
          </a:p>
          <a:p>
            <a:pPr marL="0" indent="0">
              <a:buNone/>
            </a:pPr>
            <a:r>
              <a:rPr lang="es-MX" dirty="0" err="1" smtClean="0"/>
              <a:t>Pending</a:t>
            </a:r>
            <a:r>
              <a:rPr lang="es-MX" dirty="0" smtClean="0"/>
              <a:t>: </a:t>
            </a:r>
            <a:r>
              <a:rPr lang="es-MX" dirty="0" err="1" smtClean="0"/>
              <a:t>Literature</a:t>
            </a:r>
            <a:r>
              <a:rPr lang="es-MX" dirty="0" smtClean="0"/>
              <a:t> </a:t>
            </a:r>
            <a:r>
              <a:rPr lang="es-MX" dirty="0" err="1" smtClean="0"/>
              <a:t>review</a:t>
            </a:r>
            <a:r>
              <a:rPr lang="es-MX" dirty="0" smtClean="0"/>
              <a:t> </a:t>
            </a:r>
            <a:r>
              <a:rPr lang="es-MX" dirty="0" err="1" smtClean="0"/>
              <a:t>on</a:t>
            </a:r>
            <a:r>
              <a:rPr lang="es-MX" dirty="0" smtClean="0"/>
              <a:t> </a:t>
            </a:r>
            <a:r>
              <a:rPr lang="es-MX" dirty="0" err="1" smtClean="0"/>
              <a:t>mountain</a:t>
            </a:r>
            <a:r>
              <a:rPr lang="es-MX" dirty="0" smtClean="0"/>
              <a:t> </a:t>
            </a:r>
            <a:r>
              <a:rPr lang="es-MX" dirty="0" err="1" smtClean="0"/>
              <a:t>tree</a:t>
            </a:r>
            <a:r>
              <a:rPr lang="es-MX" dirty="0" smtClean="0"/>
              <a:t> </a:t>
            </a:r>
            <a:r>
              <a:rPr lang="es-MX" dirty="0" err="1" smtClean="0"/>
              <a:t>leaf</a:t>
            </a:r>
            <a:r>
              <a:rPr lang="es-MX" dirty="0" smtClean="0"/>
              <a:t> </a:t>
            </a:r>
            <a:r>
              <a:rPr lang="es-MX" dirty="0" err="1" smtClean="0"/>
              <a:t>traits</a:t>
            </a:r>
            <a:r>
              <a:rPr lang="es-MX" dirty="0" smtClean="0"/>
              <a:t>, </a:t>
            </a:r>
            <a:r>
              <a:rPr lang="es-MX" dirty="0" err="1" smtClean="0"/>
              <a:t>Climatic</a:t>
            </a:r>
            <a:r>
              <a:rPr lang="es-MX" dirty="0" smtClean="0"/>
              <a:t> variables </a:t>
            </a:r>
            <a:r>
              <a:rPr lang="es-MX" dirty="0" err="1" smtClean="0"/>
              <a:t>from</a:t>
            </a:r>
            <a:r>
              <a:rPr lang="es-MX" dirty="0" smtClean="0"/>
              <a:t> CHELSA. </a:t>
            </a:r>
          </a:p>
        </p:txBody>
      </p:sp>
    </p:spTree>
    <p:extLst>
      <p:ext uri="{BB962C8B-B14F-4D97-AF65-F5344CB8AC3E}">
        <p14:creationId xmlns:p14="http://schemas.microsoft.com/office/powerpoint/2010/main" val="255619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Summary</a:t>
            </a:r>
            <a:r>
              <a:rPr lang="es-MX" dirty="0" smtClean="0"/>
              <a:t> </a:t>
            </a:r>
            <a:r>
              <a:rPr lang="es-MX" dirty="0" err="1" smtClean="0"/>
              <a:t>until</a:t>
            </a:r>
            <a:r>
              <a:rPr lang="es-MX" dirty="0" smtClean="0"/>
              <a:t> </a:t>
            </a:r>
            <a:r>
              <a:rPr lang="es-MX" dirty="0" err="1" smtClean="0"/>
              <a:t>now</a:t>
            </a:r>
            <a:r>
              <a:rPr lang="es-MX" dirty="0" smtClean="0"/>
              <a:t>.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 err="1" smtClean="0"/>
              <a:t>Consistent</a:t>
            </a:r>
            <a:r>
              <a:rPr lang="es-MX" dirty="0" smtClean="0"/>
              <a:t> </a:t>
            </a:r>
            <a:r>
              <a:rPr lang="es-MX" dirty="0" err="1" smtClean="0"/>
              <a:t>increase</a:t>
            </a:r>
            <a:r>
              <a:rPr lang="es-MX" dirty="0" smtClean="0"/>
              <a:t> </a:t>
            </a:r>
            <a:r>
              <a:rPr lang="es-MX" dirty="0" err="1" smtClean="0"/>
              <a:t>with</a:t>
            </a:r>
            <a:r>
              <a:rPr lang="es-MX" dirty="0" smtClean="0"/>
              <a:t> </a:t>
            </a:r>
            <a:r>
              <a:rPr lang="es-MX" dirty="0" err="1" smtClean="0"/>
              <a:t>iWUE</a:t>
            </a:r>
            <a:r>
              <a:rPr lang="es-MX" dirty="0" smtClean="0"/>
              <a:t> </a:t>
            </a:r>
            <a:r>
              <a:rPr lang="es-MX" dirty="0" err="1" smtClean="0"/>
              <a:t>with</a:t>
            </a:r>
            <a:r>
              <a:rPr lang="es-MX" dirty="0" smtClean="0"/>
              <a:t> </a:t>
            </a:r>
            <a:r>
              <a:rPr lang="es-MX" dirty="0" err="1" smtClean="0"/>
              <a:t>altitude</a:t>
            </a:r>
            <a:r>
              <a:rPr lang="es-MX" dirty="0" smtClean="0"/>
              <a:t>. </a:t>
            </a:r>
            <a:r>
              <a:rPr lang="es-MX" dirty="0" err="1" smtClean="0"/>
              <a:t>Related</a:t>
            </a:r>
            <a:r>
              <a:rPr lang="es-MX" dirty="0" smtClean="0"/>
              <a:t> to </a:t>
            </a:r>
            <a:r>
              <a:rPr lang="es-MX" dirty="0" err="1" smtClean="0"/>
              <a:t>conservative</a:t>
            </a:r>
            <a:r>
              <a:rPr lang="es-MX" dirty="0" smtClean="0"/>
              <a:t> </a:t>
            </a:r>
            <a:r>
              <a:rPr lang="es-MX" dirty="0" err="1" smtClean="0"/>
              <a:t>traits</a:t>
            </a:r>
            <a:r>
              <a:rPr lang="es-MX" dirty="0" smtClean="0"/>
              <a:t> at </a:t>
            </a:r>
            <a:r>
              <a:rPr lang="es-MX" dirty="0" err="1" smtClean="0"/>
              <a:t>the</a:t>
            </a:r>
            <a:r>
              <a:rPr lang="es-MX" dirty="0" smtClean="0"/>
              <a:t> top of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mountains</a:t>
            </a:r>
            <a:r>
              <a:rPr lang="es-MX" dirty="0" smtClean="0"/>
              <a:t>.</a:t>
            </a:r>
          </a:p>
          <a:p>
            <a:r>
              <a:rPr lang="es-MX" dirty="0" err="1" smtClean="0"/>
              <a:t>Apparent</a:t>
            </a:r>
            <a:r>
              <a:rPr lang="es-MX" dirty="0" smtClean="0"/>
              <a:t> </a:t>
            </a:r>
            <a:r>
              <a:rPr lang="es-MX" dirty="0" err="1" smtClean="0"/>
              <a:t>increase</a:t>
            </a:r>
            <a:r>
              <a:rPr lang="es-MX" dirty="0" smtClean="0"/>
              <a:t> </a:t>
            </a:r>
            <a:r>
              <a:rPr lang="es-MX" dirty="0" err="1" smtClean="0"/>
              <a:t>with</a:t>
            </a:r>
            <a:r>
              <a:rPr lang="es-MX" dirty="0" smtClean="0"/>
              <a:t> time at </a:t>
            </a:r>
            <a:r>
              <a:rPr lang="es-MX" dirty="0" err="1" smtClean="0"/>
              <a:t>all</a:t>
            </a:r>
            <a:r>
              <a:rPr lang="es-MX" dirty="0" smtClean="0"/>
              <a:t> </a:t>
            </a:r>
            <a:r>
              <a:rPr lang="es-MX" dirty="0" err="1" smtClean="0"/>
              <a:t>elevations</a:t>
            </a:r>
            <a:r>
              <a:rPr lang="es-MX" dirty="0" smtClean="0"/>
              <a:t> </a:t>
            </a:r>
            <a:r>
              <a:rPr lang="es-MX" dirty="0" err="1" smtClean="0"/>
              <a:t>with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exception</a:t>
            </a:r>
            <a:r>
              <a:rPr lang="es-MX" dirty="0" smtClean="0"/>
              <a:t> of Oyacachi. At 3500 and 4000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trees</a:t>
            </a:r>
            <a:r>
              <a:rPr lang="es-MX" dirty="0" smtClean="0"/>
              <a:t> are </a:t>
            </a:r>
            <a:r>
              <a:rPr lang="es-MX" dirty="0" err="1" smtClean="0"/>
              <a:t>not</a:t>
            </a:r>
            <a:r>
              <a:rPr lang="es-MX" dirty="0" smtClean="0"/>
              <a:t> </a:t>
            </a:r>
            <a:r>
              <a:rPr lang="es-MX" dirty="0" err="1" smtClean="0"/>
              <a:t>showing</a:t>
            </a:r>
            <a:r>
              <a:rPr lang="es-MX" dirty="0" smtClean="0"/>
              <a:t> </a:t>
            </a:r>
            <a:r>
              <a:rPr lang="es-MX" dirty="0" err="1" smtClean="0"/>
              <a:t>increases</a:t>
            </a:r>
            <a:r>
              <a:rPr lang="es-MX" dirty="0" smtClean="0"/>
              <a:t> </a:t>
            </a:r>
            <a:r>
              <a:rPr lang="es-MX" dirty="0" err="1" smtClean="0"/>
              <a:t>but</a:t>
            </a:r>
            <a:r>
              <a:rPr lang="es-MX" dirty="0" smtClean="0"/>
              <a:t> </a:t>
            </a:r>
            <a:r>
              <a:rPr lang="es-MX" dirty="0" err="1" smtClean="0"/>
              <a:t>they</a:t>
            </a:r>
            <a:r>
              <a:rPr lang="es-MX" dirty="0" smtClean="0"/>
              <a:t> are </a:t>
            </a:r>
            <a:r>
              <a:rPr lang="es-MX" dirty="0" err="1" smtClean="0"/>
              <a:t>decreasing</a:t>
            </a:r>
            <a:r>
              <a:rPr lang="es-MX" dirty="0" smtClean="0"/>
              <a:t>! </a:t>
            </a:r>
          </a:p>
          <a:p>
            <a:r>
              <a:rPr lang="es-MX" dirty="0" err="1"/>
              <a:t>Herbarium</a:t>
            </a:r>
            <a:r>
              <a:rPr lang="es-MX" dirty="0"/>
              <a:t> </a:t>
            </a:r>
            <a:r>
              <a:rPr lang="es-MX" dirty="0" err="1"/>
              <a:t>collections</a:t>
            </a:r>
            <a:r>
              <a:rPr lang="es-MX" dirty="0"/>
              <a:t> </a:t>
            </a:r>
            <a:r>
              <a:rPr lang="es-MX" dirty="0" err="1"/>
              <a:t>worked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analysis</a:t>
            </a:r>
            <a:r>
              <a:rPr lang="es-MX" dirty="0"/>
              <a:t>! – </a:t>
            </a:r>
            <a:r>
              <a:rPr lang="es-MX" dirty="0" err="1"/>
              <a:t>However</a:t>
            </a:r>
            <a:r>
              <a:rPr lang="es-MX" dirty="0"/>
              <a:t> </a:t>
            </a:r>
            <a:r>
              <a:rPr lang="es-MX" dirty="0" err="1"/>
              <a:t>they</a:t>
            </a:r>
            <a:r>
              <a:rPr lang="es-MX" dirty="0"/>
              <a:t> </a:t>
            </a:r>
            <a:r>
              <a:rPr lang="es-MX" dirty="0" err="1"/>
              <a:t>introduced</a:t>
            </a:r>
            <a:r>
              <a:rPr lang="es-MX" dirty="0"/>
              <a:t> more </a:t>
            </a:r>
            <a:r>
              <a:rPr lang="es-MX" dirty="0" err="1"/>
              <a:t>noise</a:t>
            </a:r>
            <a:r>
              <a:rPr lang="es-MX" dirty="0"/>
              <a:t> </a:t>
            </a:r>
            <a:r>
              <a:rPr lang="es-MX" dirty="0" err="1"/>
              <a:t>compared</a:t>
            </a:r>
            <a:r>
              <a:rPr lang="es-MX" dirty="0"/>
              <a:t> to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pulverized</a:t>
            </a:r>
            <a:r>
              <a:rPr lang="es-MX" dirty="0"/>
              <a:t> </a:t>
            </a:r>
            <a:r>
              <a:rPr lang="es-MX" dirty="0" err="1"/>
              <a:t>samples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dirty="0" smtClean="0"/>
          </a:p>
          <a:p>
            <a:r>
              <a:rPr lang="es-MX" dirty="0" err="1" smtClean="0"/>
              <a:t>Need</a:t>
            </a:r>
            <a:r>
              <a:rPr lang="es-MX" dirty="0" smtClean="0"/>
              <a:t> to explore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differences</a:t>
            </a:r>
            <a:r>
              <a:rPr lang="es-MX" dirty="0" smtClean="0"/>
              <a:t> </a:t>
            </a:r>
            <a:r>
              <a:rPr lang="es-MX" dirty="0" err="1" smtClean="0"/>
              <a:t>between</a:t>
            </a:r>
            <a:r>
              <a:rPr lang="es-MX" dirty="0" smtClean="0"/>
              <a:t> </a:t>
            </a:r>
            <a:r>
              <a:rPr lang="es-MX" dirty="0" err="1" smtClean="0"/>
              <a:t>sites</a:t>
            </a:r>
            <a:r>
              <a:rPr lang="es-MX" dirty="0" smtClean="0"/>
              <a:t> </a:t>
            </a:r>
            <a:r>
              <a:rPr lang="es-MX" dirty="0" err="1" smtClean="0"/>
              <a:t>Eg</a:t>
            </a:r>
            <a:r>
              <a:rPr lang="es-MX" dirty="0" smtClean="0"/>
              <a:t>. Sumaco vs Guacamayos </a:t>
            </a:r>
            <a:r>
              <a:rPr lang="es-MX" dirty="0" err="1" smtClean="0"/>
              <a:t>with</a:t>
            </a:r>
            <a:r>
              <a:rPr lang="es-MX" dirty="0" smtClean="0"/>
              <a:t> similar </a:t>
            </a:r>
            <a:r>
              <a:rPr lang="es-MX" dirty="0" err="1" smtClean="0"/>
              <a:t>altitude</a:t>
            </a:r>
            <a:r>
              <a:rPr lang="es-MX" dirty="0" smtClean="0"/>
              <a:t> </a:t>
            </a:r>
            <a:r>
              <a:rPr lang="es-MX" dirty="0" err="1" smtClean="0"/>
              <a:t>but</a:t>
            </a:r>
            <a:r>
              <a:rPr lang="es-MX" dirty="0" smtClean="0"/>
              <a:t> </a:t>
            </a:r>
            <a:r>
              <a:rPr lang="es-MX" dirty="0" err="1" smtClean="0"/>
              <a:t>different</a:t>
            </a:r>
            <a:r>
              <a:rPr lang="es-MX" dirty="0" smtClean="0"/>
              <a:t> </a:t>
            </a:r>
            <a:r>
              <a:rPr lang="es-MX" dirty="0" err="1" smtClean="0"/>
              <a:t>plant</a:t>
            </a:r>
            <a:r>
              <a:rPr lang="es-MX" dirty="0" smtClean="0"/>
              <a:t> </a:t>
            </a:r>
            <a:r>
              <a:rPr lang="es-MX" dirty="0" err="1" smtClean="0"/>
              <a:t>communities</a:t>
            </a:r>
            <a:r>
              <a:rPr lang="es-MX" dirty="0" smtClean="0"/>
              <a:t>.</a:t>
            </a:r>
          </a:p>
          <a:p>
            <a:r>
              <a:rPr lang="es-MX" dirty="0" err="1" smtClean="0"/>
              <a:t>Statistical</a:t>
            </a:r>
            <a:r>
              <a:rPr lang="es-MX" dirty="0" smtClean="0"/>
              <a:t> </a:t>
            </a:r>
            <a:r>
              <a:rPr lang="es-MX" dirty="0" err="1" smtClean="0"/>
              <a:t>analysis</a:t>
            </a:r>
            <a:r>
              <a:rPr lang="es-MX" dirty="0" smtClean="0"/>
              <a:t> </a:t>
            </a:r>
            <a:r>
              <a:rPr lang="es-MX" dirty="0" err="1" smtClean="0"/>
              <a:t>still</a:t>
            </a:r>
            <a:r>
              <a:rPr lang="es-MX" dirty="0" smtClean="0"/>
              <a:t> </a:t>
            </a:r>
            <a:r>
              <a:rPr lang="es-MX" dirty="0" err="1" smtClean="0"/>
              <a:t>needed</a:t>
            </a:r>
            <a:r>
              <a:rPr lang="es-MX" dirty="0" smtClean="0"/>
              <a:t> </a:t>
            </a:r>
            <a:r>
              <a:rPr lang="es-MX" dirty="0" err="1" smtClean="0"/>
              <a:t>between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paired</a:t>
            </a:r>
            <a:r>
              <a:rPr lang="es-MX" dirty="0" smtClean="0"/>
              <a:t> </a:t>
            </a:r>
            <a:r>
              <a:rPr lang="es-MX" dirty="0" err="1" smtClean="0"/>
              <a:t>samples</a:t>
            </a:r>
            <a:r>
              <a:rPr lang="es-MX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343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South of Ecuador: Control.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65952" b="6260"/>
          <a:stretch/>
        </p:blipFill>
        <p:spPr>
          <a:xfrm>
            <a:off x="383643" y="1482420"/>
            <a:ext cx="5552160" cy="2495385"/>
          </a:xfrm>
          <a:prstGeom prst="rect">
            <a:avLst/>
          </a:prstGeom>
        </p:spPr>
      </p:pic>
      <p:pic>
        <p:nvPicPr>
          <p:cNvPr id="5" name="Marcador de contenido 3"/>
          <p:cNvPicPr>
            <a:picLocks noChangeAspect="1"/>
          </p:cNvPicPr>
          <p:nvPr/>
        </p:nvPicPr>
        <p:blipFill rotWithShape="1">
          <a:blip r:embed="rId3"/>
          <a:srcRect l="34836" t="1044" r="-18948" b="6784"/>
          <a:stretch/>
        </p:blipFill>
        <p:spPr>
          <a:xfrm>
            <a:off x="838200" y="4220210"/>
            <a:ext cx="14237237" cy="2523536"/>
          </a:xfrm>
          <a:prstGeom prst="rect">
            <a:avLst/>
          </a:prstGeom>
        </p:spPr>
      </p:pic>
      <p:pic>
        <p:nvPicPr>
          <p:cNvPr id="7" name="Marcador de contenido 3"/>
          <p:cNvPicPr>
            <a:picLocks noChangeAspect="1"/>
          </p:cNvPicPr>
          <p:nvPr/>
        </p:nvPicPr>
        <p:blipFill rotWithShape="1">
          <a:blip r:embed="rId3"/>
          <a:srcRect r="96838"/>
          <a:stretch/>
        </p:blipFill>
        <p:spPr>
          <a:xfrm>
            <a:off x="543840" y="4287186"/>
            <a:ext cx="453318" cy="2340349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013023" y="1379095"/>
            <a:ext cx="1693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1000</a:t>
            </a:r>
            <a:endParaRPr lang="en-US" b="1" dirty="0"/>
          </a:p>
        </p:txBody>
      </p:sp>
      <p:sp>
        <p:nvSpPr>
          <p:cNvPr id="8" name="CuadroTexto 7"/>
          <p:cNvSpPr txBox="1"/>
          <p:nvPr/>
        </p:nvSpPr>
        <p:spPr>
          <a:xfrm>
            <a:off x="3013023" y="4035544"/>
            <a:ext cx="1693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2000</a:t>
            </a:r>
            <a:endParaRPr lang="en-US" b="1" dirty="0"/>
          </a:p>
        </p:txBody>
      </p:sp>
      <p:sp>
        <p:nvSpPr>
          <p:cNvPr id="9" name="CuadroTexto 8"/>
          <p:cNvSpPr txBox="1"/>
          <p:nvPr/>
        </p:nvSpPr>
        <p:spPr>
          <a:xfrm>
            <a:off x="8726774" y="3850878"/>
            <a:ext cx="1693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3</a:t>
            </a:r>
            <a:r>
              <a:rPr lang="es-MX" b="1" dirty="0" smtClean="0"/>
              <a:t>000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5666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North of Ecuador: Napo </a:t>
            </a:r>
            <a:r>
              <a:rPr lang="es-MX" dirty="0" err="1" smtClean="0"/>
              <a:t>results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4654"/>
            <a:ext cx="11809223" cy="331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7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6072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MX" dirty="0" smtClean="0"/>
              <a:t>Figure 1.  </a:t>
            </a:r>
            <a:r>
              <a:rPr lang="es-MX" dirty="0" err="1" smtClean="0"/>
              <a:t>Variation</a:t>
            </a:r>
            <a:r>
              <a:rPr lang="es-MX" dirty="0" smtClean="0"/>
              <a:t> in </a:t>
            </a:r>
            <a:r>
              <a:rPr lang="es-MX" dirty="0" err="1" smtClean="0"/>
              <a:t>iWUEs</a:t>
            </a:r>
            <a:r>
              <a:rPr lang="es-MX" dirty="0" smtClean="0"/>
              <a:t> </a:t>
            </a:r>
            <a:r>
              <a:rPr lang="es-MX" dirty="0" err="1" smtClean="0"/>
              <a:t>plant</a:t>
            </a:r>
            <a:r>
              <a:rPr lang="es-MX" dirty="0" smtClean="0"/>
              <a:t> </a:t>
            </a:r>
            <a:r>
              <a:rPr lang="es-MX" dirty="0" err="1" smtClean="0"/>
              <a:t>families</a:t>
            </a:r>
            <a:r>
              <a:rPr lang="es-MX" dirty="0" smtClean="0"/>
              <a:t> </a:t>
            </a:r>
            <a:r>
              <a:rPr lang="es-MX" dirty="0" err="1" smtClean="0"/>
              <a:t>along</a:t>
            </a:r>
            <a:r>
              <a:rPr lang="es-MX" dirty="0" smtClean="0"/>
              <a:t> </a:t>
            </a:r>
            <a:r>
              <a:rPr lang="es-MX" dirty="0" err="1" smtClean="0"/>
              <a:t>elevational</a:t>
            </a:r>
            <a:r>
              <a:rPr lang="es-MX" dirty="0" smtClean="0"/>
              <a:t> </a:t>
            </a:r>
            <a:r>
              <a:rPr lang="es-MX" dirty="0" err="1" smtClean="0"/>
              <a:t>gradient</a:t>
            </a:r>
            <a:r>
              <a:rPr lang="es-MX" dirty="0"/>
              <a:t> </a:t>
            </a:r>
            <a:r>
              <a:rPr lang="es-MX" dirty="0" smtClean="0"/>
              <a:t>- NAPO 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07" y="886465"/>
            <a:ext cx="10914185" cy="543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4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ítulo 6"/>
          <p:cNvSpPr txBox="1">
            <a:spLocks/>
          </p:cNvSpPr>
          <p:nvPr/>
        </p:nvSpPr>
        <p:spPr>
          <a:xfrm>
            <a:off x="467265" y="-1950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Oyacachi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839" y="2225098"/>
            <a:ext cx="8378742" cy="414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16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ítulo 6"/>
          <p:cNvSpPr txBox="1">
            <a:spLocks/>
          </p:cNvSpPr>
          <p:nvPr/>
        </p:nvSpPr>
        <p:spPr>
          <a:xfrm>
            <a:off x="467265" y="-1950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/>
              <a:t>Guacamayos 2000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016" y="1130464"/>
            <a:ext cx="5206583" cy="520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4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Site</a:t>
            </a:r>
            <a:r>
              <a:rPr lang="es-MX" dirty="0" smtClean="0"/>
              <a:t>: Sumaco 1500 and 2000 m.</a:t>
            </a:r>
            <a:endParaRPr lang="en-US" dirty="0"/>
          </a:p>
        </p:txBody>
      </p:sp>
      <p:sp>
        <p:nvSpPr>
          <p:cNvPr id="5" name="CuadroTexto 4"/>
          <p:cNvSpPr txBox="1"/>
          <p:nvPr/>
        </p:nvSpPr>
        <p:spPr>
          <a:xfrm>
            <a:off x="2158584" y="2278505"/>
            <a:ext cx="3237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 smtClean="0">
                <a:solidFill>
                  <a:srgbClr val="FF0000"/>
                </a:solidFill>
              </a:rPr>
              <a:t>Only</a:t>
            </a:r>
            <a:r>
              <a:rPr lang="es-MX" dirty="0" smtClean="0">
                <a:solidFill>
                  <a:srgbClr val="FF0000"/>
                </a:solidFill>
              </a:rPr>
              <a:t> </a:t>
            </a:r>
            <a:r>
              <a:rPr lang="es-MX" dirty="0" err="1" smtClean="0">
                <a:solidFill>
                  <a:srgbClr val="FF0000"/>
                </a:solidFill>
              </a:rPr>
              <a:t>samples</a:t>
            </a:r>
            <a:r>
              <a:rPr lang="es-MX" dirty="0" smtClean="0">
                <a:solidFill>
                  <a:srgbClr val="FF0000"/>
                </a:solidFill>
              </a:rPr>
              <a:t> </a:t>
            </a:r>
            <a:r>
              <a:rPr lang="es-MX" dirty="0" err="1" smtClean="0">
                <a:solidFill>
                  <a:srgbClr val="FF0000"/>
                </a:solidFill>
              </a:rPr>
              <a:t>from</a:t>
            </a:r>
            <a:r>
              <a:rPr lang="es-MX" dirty="0" smtClean="0">
                <a:solidFill>
                  <a:srgbClr val="FF0000"/>
                </a:solidFill>
              </a:rPr>
              <a:t> 2025.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847" y="1690688"/>
            <a:ext cx="9103199" cy="449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6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Site</a:t>
            </a:r>
            <a:r>
              <a:rPr lang="es-MX" dirty="0" smtClean="0"/>
              <a:t>: Sumaco 2000</a:t>
            </a:r>
            <a:endParaRPr lang="en-US" dirty="0"/>
          </a:p>
        </p:txBody>
      </p:sp>
      <p:pic>
        <p:nvPicPr>
          <p:cNvPr id="6" name="Marcador de contenido 4"/>
          <p:cNvPicPr>
            <a:picLocks noChangeAspect="1"/>
          </p:cNvPicPr>
          <p:nvPr/>
        </p:nvPicPr>
        <p:blipFill rotWithShape="1">
          <a:blip r:embed="rId2"/>
          <a:srcRect l="57662" t="-3348" r="-15816" b="3348"/>
          <a:stretch/>
        </p:blipFill>
        <p:spPr>
          <a:xfrm>
            <a:off x="348933" y="5201261"/>
            <a:ext cx="5747068" cy="1381919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4946754" y="5201261"/>
            <a:ext cx="4047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 smtClean="0">
                <a:solidFill>
                  <a:srgbClr val="FF0000"/>
                </a:solidFill>
              </a:rPr>
              <a:t>Plot</a:t>
            </a:r>
            <a:r>
              <a:rPr lang="es-MX" dirty="0" smtClean="0">
                <a:solidFill>
                  <a:srgbClr val="FF0000"/>
                </a:solidFill>
              </a:rPr>
              <a:t> 13, </a:t>
            </a:r>
            <a:r>
              <a:rPr lang="es-MX" dirty="0" err="1" smtClean="0">
                <a:solidFill>
                  <a:srgbClr val="FF0000"/>
                </a:solidFill>
              </a:rPr>
              <a:t>Plot</a:t>
            </a:r>
            <a:r>
              <a:rPr lang="es-MX" dirty="0" smtClean="0">
                <a:solidFill>
                  <a:srgbClr val="FF0000"/>
                </a:solidFill>
              </a:rPr>
              <a:t> 16 y </a:t>
            </a:r>
            <a:r>
              <a:rPr lang="es-MX" dirty="0" err="1" smtClean="0">
                <a:solidFill>
                  <a:srgbClr val="FF0000"/>
                </a:solidFill>
              </a:rPr>
              <a:t>Plot</a:t>
            </a:r>
            <a:r>
              <a:rPr lang="es-MX" dirty="0" smtClean="0">
                <a:solidFill>
                  <a:srgbClr val="FF0000"/>
                </a:solidFill>
              </a:rPr>
              <a:t> 18 no data </a:t>
            </a:r>
            <a:r>
              <a:rPr lang="es-MX" dirty="0" err="1" smtClean="0">
                <a:solidFill>
                  <a:srgbClr val="FF0000"/>
                </a:solidFill>
              </a:rPr>
              <a:t>from</a:t>
            </a:r>
            <a:r>
              <a:rPr lang="es-MX" dirty="0" smtClean="0">
                <a:solidFill>
                  <a:srgbClr val="FF0000"/>
                </a:solidFill>
              </a:rPr>
              <a:t> </a:t>
            </a:r>
            <a:r>
              <a:rPr lang="es-MX" dirty="0" err="1" smtClean="0">
                <a:solidFill>
                  <a:srgbClr val="FF0000"/>
                </a:solidFill>
              </a:rPr>
              <a:t>two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time periods – Herbarium?</a:t>
            </a:r>
            <a:endParaRPr lang="es-MX" dirty="0" smtClean="0">
              <a:solidFill>
                <a:srgbClr val="FF0000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883" y="4928294"/>
            <a:ext cx="1493649" cy="1469263"/>
          </a:xfrm>
          <a:prstGeom prst="rect">
            <a:avLst/>
          </a:prstGeom>
        </p:spPr>
      </p:pic>
      <p:pic>
        <p:nvPicPr>
          <p:cNvPr id="10" name="Marcador de contenido 9"/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r="41833"/>
          <a:stretch/>
        </p:blipFill>
        <p:spPr>
          <a:xfrm>
            <a:off x="0" y="1480094"/>
            <a:ext cx="12055716" cy="289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2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Site</a:t>
            </a:r>
            <a:r>
              <a:rPr lang="es-MX" dirty="0" smtClean="0"/>
              <a:t>: Galeras 1000,1500,2000 m</a:t>
            </a:r>
            <a:endParaRPr lang="en-US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66" y="2036320"/>
            <a:ext cx="1132522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52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38864" y="280357"/>
            <a:ext cx="10515600" cy="1325563"/>
          </a:xfrm>
        </p:spPr>
        <p:txBody>
          <a:bodyPr/>
          <a:lstStyle/>
          <a:p>
            <a:r>
              <a:rPr lang="es-MX" dirty="0" smtClean="0"/>
              <a:t>Selva Viva: 500 m</a:t>
            </a:r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14" y="1110620"/>
            <a:ext cx="5450486" cy="545048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r="51443"/>
          <a:stretch/>
        </p:blipFill>
        <p:spPr>
          <a:xfrm>
            <a:off x="7864839" y="1259380"/>
            <a:ext cx="3418806" cy="518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212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366</Words>
  <Application>Microsoft Office PowerPoint</Application>
  <PresentationFormat>Panorámica</PresentationFormat>
  <Paragraphs>43</Paragraphs>
  <Slides>13</Slides>
  <Notes>2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de Office</vt:lpstr>
      <vt:lpstr>CHAPTER 2: Andrea</vt:lpstr>
      <vt:lpstr>Chapter 2b</vt:lpstr>
      <vt:lpstr>Presentación de PowerPoint</vt:lpstr>
      <vt:lpstr>Summary until now.</vt:lpstr>
      <vt:lpstr>South of Ecuador: Control.</vt:lpstr>
      <vt:lpstr>North of Ecuador: Napo results</vt:lpstr>
      <vt:lpstr>Presentación de PowerPoint</vt:lpstr>
      <vt:lpstr>Presentación de PowerPoint</vt:lpstr>
      <vt:lpstr>Presentación de PowerPoint</vt:lpstr>
      <vt:lpstr>Site: Sumaco 1500 and 2000 m.</vt:lpstr>
      <vt:lpstr>Site: Sumaco 2000</vt:lpstr>
      <vt:lpstr>Site: Galeras 1000,1500,2000 m</vt:lpstr>
      <vt:lpstr>Selva Viva: 500 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selene.baez</dc:creator>
  <cp:lastModifiedBy>selene.baez</cp:lastModifiedBy>
  <cp:revision>23</cp:revision>
  <dcterms:created xsi:type="dcterms:W3CDTF">2026-04-15T09:07:49Z</dcterms:created>
  <dcterms:modified xsi:type="dcterms:W3CDTF">2026-04-24T14:42:04Z</dcterms:modified>
</cp:coreProperties>
</file>